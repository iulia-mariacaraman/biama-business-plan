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62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2194560"/>
            <a:ext cx="54864" cy="731520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S.R.L.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Clinică de Estetică Medicală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MANAGERIAL</a:t>
            </a:r>
            <a:endParaRPr lang="en-US" sz="2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PENTRU DEZVOLTAREA</a:t>
            </a:r>
            <a:endParaRPr lang="en-US" sz="2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AFACERII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32918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de Studii Economice București</a:t>
            </a:r>
            <a:endParaRPr lang="en-US" sz="9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Facultatea de Cibernetică, Statistică și Informatică Economică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4206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Cămăruț · Cărăbineanu · Chiper · Caraman · Chipuc  |  Grupa 1014  |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STRUCTURĂ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Cuprins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457200" cy="59436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Definirea Afacerii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457200" cy="59436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Managerială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457200" cy="59436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37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 Organizatorică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457200" cy="59436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Managementul Resurselor Umane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457200" cy="59436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68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560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Planificarea Lansării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337560"/>
            <a:ext cx="457200" cy="59436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37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Planul Financiar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Definirea Afacerii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juridică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Societate cu Răspundere Limitată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3474720" cy="10973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58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Sediu social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Calea Dorobanților nr. 100, Sector 1, București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3474720" cy="10973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083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CAEN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32552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8622 – Asistență medicală specializată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66744"/>
            <a:ext cx="3474720" cy="10973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Durată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40050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Perioadă nedeterminată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4023360" cy="338328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0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50.000 RON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părți sociale × 100 RON  |  5 asociați × 100 părți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8046720" cy="13716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Asociați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Cămăruț Bianca-Maria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Cărăbineanu Andra-Maria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739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Chiper Alina Alice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032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Caraman Iulia-Maria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325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Chipuc Maria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Strategia Managerială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169164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VIZIUNE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Să devenim principala clinică de estetică medicală din București, recunoscută pentru rezultate naturale și siguranța pacienților.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51760" cy="1691640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MISIUNE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Oferirea de soluții estetice inovatoare care să redea încrederea clienților, utilizând expertiza medicală și tehnologia de vârf.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2651760" cy="1691640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Femei și bărbați, 25–55 ani, venituri medii și peste medie, mediu urban – zona de nord a Bucureștiului.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Obiective Strategice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8046720" cy="13716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250.000 RON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20.000 RON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450.000 RON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80.000 RON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41330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650.000 RON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140.000 RON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Analiză SWOT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160520" cy="164592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PUNCTE TARI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Localizare exclusivistă Dorobanți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 solid – 50.000 RON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unit (5 asociate)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Tehnologii moderne estetice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Servicii personalizate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60520" cy="1645920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PUNCTE SLABE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65192" y="184708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nou, fără notorietate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Costuri fixe ridicate (Sector 1)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Investiții inițiale ridicate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Dependență de furnizori specializați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Concurență ridicată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4160520" cy="1645920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OPORTUNITĂȚI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" y="372160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Cerere crescândă pt. proceduri minim invazive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Parteneriate cu furnizori top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Promovare Social Media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Extinderea pieței estetice premium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337560"/>
            <a:ext cx="4160520" cy="1645920"/>
          </a:xfrm>
          <a:prstGeom prst="rect">
            <a:avLst/>
          </a:prstGeom>
          <a:solidFill>
            <a:srgbClr val="7A5C61"/>
          </a:solidFill>
          <a:ln w="12700">
            <a:solidFill>
              <a:srgbClr val="7A5C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AMENINȚĂRI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65192" y="372160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Concurență acerbă în zonă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Modificări legislative medical/fiscal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competitori pe piață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Scăderea puterii de cumpărare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2"/>
          <p:cNvSpPr/>
          <p:nvPr/>
        </p:nvSpPr>
        <p:spPr>
          <a:xfrm>
            <a:off x="4754880" y="2112264"/>
            <a:ext cx="1508760" cy="77724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 Organizatorică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66160" y="1508760"/>
            <a:ext cx="2011680" cy="50292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242111 · ×5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100584" cy="978408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7700" y="2263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Secretară Recepție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412001 · ×1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8183880" cy="16459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3144267"/>
            <a:ext cx="1508760" cy="77724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Specialist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Estetică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1500" y="36484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221201 · ×1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71016" y="2834640"/>
            <a:ext cx="18288" cy="32004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15062" y="3144267"/>
            <a:ext cx="1508760" cy="77724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7420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17420" y="36484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222101 · ×1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16936" y="2834640"/>
            <a:ext cx="18288" cy="32004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7620" y="3144389"/>
            <a:ext cx="1508760" cy="77724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3340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Cosmetician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63340" y="36484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325901 · ×1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62856" y="2834640"/>
            <a:ext cx="18288" cy="32004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63540" y="3154680"/>
            <a:ext cx="1508760" cy="77724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09260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09260" y="36484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226401 · ×1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208776" y="2834640"/>
            <a:ext cx="18288" cy="32004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09460" y="3154680"/>
            <a:ext cx="1508760" cy="77724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5180" y="31912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55180" y="36484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241103 · ×1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54696" y="2834640"/>
            <a:ext cx="18288" cy="32004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niveluri ierarhice  ·  Pondere ierarhică medie: 6</a:t>
            </a:r>
            <a:endParaRPr lang="en-US" sz="950" dirty="0"/>
          </a:p>
        </p:txBody>
      </p:sp>
      <p:sp>
        <p:nvSpPr>
          <p:cNvPr id="34" name="Shape 9"/>
          <p:cNvSpPr/>
          <p:nvPr/>
        </p:nvSpPr>
        <p:spPr>
          <a:xfrm flipV="1">
            <a:off x="4498848" y="2446934"/>
            <a:ext cx="256032" cy="45719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Managementul Resurselor Umane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44752"/>
            <a:ext cx="8321040" cy="347472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721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Funcție / Post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63640" y="1472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69480" y="1472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Salariu/angajat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92224"/>
            <a:ext cx="8321040" cy="384048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9222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17922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RON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8321040" cy="384048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9456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 Specialist Estetică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2194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8.500 RON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596896"/>
            <a:ext cx="8321040" cy="384048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9689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 Medical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5968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25968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 RON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999232"/>
            <a:ext cx="8321040" cy="384048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9923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Secretară Recepție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9992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29992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3.800 RON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401568"/>
            <a:ext cx="8321040" cy="384048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0156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Cosmetician Medical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4015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34015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 RON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803904"/>
            <a:ext cx="8321040" cy="384048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0390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Remodelare Corp.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38039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38039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RON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4206240"/>
            <a:ext cx="8321040" cy="384048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062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42062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 RON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66344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salarii lunare: 25.000 RON  ·  Program clinică: 09:00 – 21:00 (12h/zi)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Planificarea Lansării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8194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3528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862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196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9530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4864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0198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5532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866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6200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153400" y="1207008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86000" y="1463040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463040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Studiu de piață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2286000" y="1508760"/>
            <a:ext cx="5059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1688592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688592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Constituire legală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286000" y="1734312"/>
            <a:ext cx="10393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1914144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914144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Închiriere spațiu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819400" y="1959864"/>
            <a:ext cx="5059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2139696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139696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Avize DSP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2819400" y="2185416"/>
            <a:ext cx="15727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2365248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365248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Amenajare interioară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3352800" y="2410968"/>
            <a:ext cx="15727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2590800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590800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Echipamente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3886200" y="2636520"/>
            <a:ext cx="10393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2816352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816352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Furnizori consumabile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419600" y="2862072"/>
            <a:ext cx="5059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0" y="3041904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41904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Recrutare personal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4419600" y="3087624"/>
            <a:ext cx="10393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3267456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267456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Branding &amp; website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352800" y="3313176"/>
            <a:ext cx="15727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0" y="3493008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493008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Marketing online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953000" y="3538728"/>
            <a:ext cx="15727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0" y="3718560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718560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 Soft gestiune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419600" y="3764280"/>
            <a:ext cx="10393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0" y="3944112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3944112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 Instruire echipă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5486400" y="3989832"/>
            <a:ext cx="5059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4169664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169664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 Stoc inițial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019800" y="4215384"/>
            <a:ext cx="5059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0" y="4395216"/>
            <a:ext cx="6400800" cy="207264"/>
          </a:xfrm>
          <a:prstGeom prst="rect">
            <a:avLst/>
          </a:prstGeom>
          <a:solidFill>
            <a:srgbClr val="F5E8EA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395216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 Grand Opening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6553200" y="4440936"/>
            <a:ext cx="505968" cy="115824"/>
          </a:xfrm>
          <a:prstGeom prst="rect">
            <a:avLst/>
          </a:prstGeom>
          <a:solidFill>
            <a:srgbClr val="C47E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0" y="4620768"/>
            <a:ext cx="6400800" cy="207264"/>
          </a:xfrm>
          <a:prstGeom prst="rect">
            <a:avLst/>
          </a:prstGeom>
          <a:solidFill>
            <a:srgbClr val="FDFBF9"/>
          </a:solidFill>
          <a:ln w="12700">
            <a:solidFill>
              <a:srgbClr val="F5E8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620768"/>
            <a:ext cx="196596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3D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 Deschidere oficială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6553200" y="4666488"/>
            <a:ext cx="2106168" cy="115824"/>
          </a:xfrm>
          <a:prstGeom prst="rect">
            <a:avLst/>
          </a:prstGeom>
          <a:solidFill>
            <a:srgbClr val="D4A0A7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Planul Financiar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2651760" cy="132588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Investiție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127.297 RON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4048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corporale + necorporale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481328"/>
            <a:ext cx="2651760" cy="132588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Corporale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7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75.327 RON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4048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Echipamente medicale &amp; mobilier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481328"/>
            <a:ext cx="2651760" cy="1325880"/>
          </a:xfrm>
          <a:prstGeom prst="rect">
            <a:avLst/>
          </a:prstGeom>
          <a:solidFill>
            <a:srgbClr val="F5E8EA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Cheltuieli Op.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63640" y="1901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7E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51.970 RON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4048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Salarii, chirie, utilități, marketing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Surse de Finanțare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55848"/>
            <a:ext cx="8046720" cy="13716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20440"/>
            <a:ext cx="6101334" cy="50292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4254" y="3520440"/>
            <a:ext cx="1671066" cy="502920"/>
          </a:xfrm>
          <a:prstGeom prst="rect">
            <a:avLst/>
          </a:prstGeom>
          <a:solidFill>
            <a:srgbClr val="EDD5D8"/>
          </a:solidFill>
          <a:ln w="12700">
            <a:solidFill>
              <a:srgbClr val="EDD5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965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Ajutor financiar nerambursabil  100.000 RON  (78,5%)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4096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 propriu  27.297 RON  (21,5%)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BIAMA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S.R.L.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66160" y="14630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Vă mulțumim!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046720" cy="13716"/>
          </a:xfrm>
          <a:prstGeom prst="rect">
            <a:avLst/>
          </a:prstGeom>
          <a:solidFill>
            <a:srgbClr val="D4A0A7"/>
          </a:solidFill>
          <a:ln w="12700">
            <a:solidFill>
              <a:srgbClr val="D4A0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26060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Clinică de Estetică Medicală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D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Calea Dorobanților nr. 100, Sector 1, București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38404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Cămăruț · Cărăbineanu · Chiper · Caraman · Chipuc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5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1014 · ASE București ·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600</Words>
  <Application>Microsoft Office PowerPoint</Application>
  <PresentationFormat>On-screen Show (16:9)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BIAMA S.R.L. – Plan Managerial</dc:title>
  <dc:subject>PptxGenJS Presentation</dc:subject>
  <dc:creator>PptxGenJS</dc:creator>
  <cp:lastModifiedBy>Lenovo</cp:lastModifiedBy>
  <cp:revision>2</cp:revision>
  <dcterms:created xsi:type="dcterms:W3CDTF">2026-05-20T07:17:27Z</dcterms:created>
  <dcterms:modified xsi:type="dcterms:W3CDTF">2026-05-20T07:28:15Z</dcterms:modified>
</cp:coreProperties>
</file>